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57" r:id="rId5"/>
    <p:sldId id="259" r:id="rId6"/>
    <p:sldId id="258" r:id="rId7"/>
    <p:sldId id="262" r:id="rId8"/>
    <p:sldId id="269" r:id="rId9"/>
    <p:sldId id="263" r:id="rId10"/>
    <p:sldId id="265" r:id="rId11"/>
    <p:sldId id="260" r:id="rId12"/>
    <p:sldId id="264" r:id="rId13"/>
    <p:sldId id="266" r:id="rId14"/>
    <p:sldId id="26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62" autoAdjust="0"/>
    <p:restoredTop sz="94660"/>
  </p:normalViewPr>
  <p:slideViewPr>
    <p:cSldViewPr>
      <p:cViewPr varScale="1">
        <p:scale>
          <a:sx n="78" d="100"/>
          <a:sy n="78" d="100"/>
        </p:scale>
        <p:origin x="101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AF18D45-B7FE-4236-97CF-550580D7B56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31DE7F5-D7B1-410E-9AE1-B8077CDBCA5C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2209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700" dirty="0"/>
              <a:t>HKBK College of Engineering</a:t>
            </a:r>
            <a:br>
              <a:rPr lang="en-US" sz="2700" dirty="0"/>
            </a:br>
            <a:r>
              <a:rPr lang="en-US" sz="2700" dirty="0"/>
              <a:t>Department of Computer Science and Engineering</a:t>
            </a:r>
            <a:br>
              <a:rPr lang="en-US" sz="2700" dirty="0"/>
            </a:br>
            <a:r>
              <a:rPr lang="en-US" sz="2700" dirty="0"/>
              <a:t>PROJECT TITLE:</a:t>
            </a:r>
            <a:br>
              <a:rPr lang="en-US" dirty="0"/>
            </a:br>
            <a:r>
              <a:rPr lang="en-US" sz="2700" dirty="0"/>
              <a:t>Fake Social Media Account Detection using Machine Learning</a:t>
            </a:r>
            <a:b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581400"/>
            <a:ext cx="8458200" cy="27432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Presented by					    Guided by</a:t>
            </a:r>
          </a:p>
          <a:p>
            <a:pPr algn="l"/>
            <a:r>
              <a:rPr lang="en-US" dirty="0"/>
              <a:t>1. Keerthana k h-1HK23CS062                           </a:t>
            </a:r>
            <a:r>
              <a:rPr lang="en-US" dirty="0" err="1"/>
              <a:t>Prof.Sarumathi.S</a:t>
            </a:r>
            <a:endParaRPr lang="en-US" dirty="0"/>
          </a:p>
          <a:p>
            <a:pPr algn="l"/>
            <a:r>
              <a:rPr lang="en-US" dirty="0"/>
              <a:t>2.Anil-1HK23CS017                                           </a:t>
            </a:r>
            <a:r>
              <a:rPr lang="en-US" dirty="0" err="1"/>
              <a:t>Assistate</a:t>
            </a:r>
            <a:r>
              <a:rPr lang="en-US" dirty="0"/>
              <a:t> Professor</a:t>
            </a:r>
          </a:p>
          <a:p>
            <a:pPr algn="l"/>
            <a:r>
              <a:rPr lang="en-US" dirty="0"/>
              <a:t>3.Govindraj-1HK23CS049                              Dept. of CSE,HKBKCE</a:t>
            </a:r>
          </a:p>
          <a:p>
            <a:pPr algn="l"/>
            <a:r>
              <a:rPr lang="en-US" dirty="0"/>
              <a:t>4.Chinthan g k-1HK23CS034</a:t>
            </a:r>
          </a:p>
          <a:p>
            <a:pPr algn="l"/>
            <a:r>
              <a:rPr lang="en-US" dirty="0"/>
              <a:t>								                   							</a:t>
            </a:r>
          </a:p>
          <a:p>
            <a:pPr algn="l"/>
            <a:r>
              <a:rPr lang="en-US" dirty="0"/>
              <a:t>							Date:18-09-2025</a:t>
            </a:r>
          </a:p>
        </p:txBody>
      </p:sp>
      <p:sp>
        <p:nvSpPr>
          <p:cNvPr id="4" name="Oval 3"/>
          <p:cNvSpPr/>
          <p:nvPr/>
        </p:nvSpPr>
        <p:spPr>
          <a:xfrm>
            <a:off x="7924800" y="0"/>
            <a:ext cx="1219200" cy="114300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aseline="30000" dirty="0"/>
              <a:t>zeroth </a:t>
            </a:r>
            <a:r>
              <a:rPr lang="en-US" sz="1600" dirty="0"/>
              <a:t>Review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Social media plays a major role in communication, business, and learning. </a:t>
            </a:r>
          </a:p>
          <a:p>
            <a:r>
              <a:rPr lang="en-US" dirty="0"/>
              <a:t>However, fake accounts spread misinformation and spam. </a:t>
            </a:r>
          </a:p>
          <a:p>
            <a:r>
              <a:rPr lang="en-US" dirty="0"/>
              <a:t>This project focuses on detecting fake social media accounts using Machine Learning (ML) algorithms like </a:t>
            </a:r>
          </a:p>
          <a:p>
            <a:r>
              <a:rPr lang="en-US" dirty="0"/>
              <a:t>Decision Tree, Random Forest, and Support Vector Machines along with NLP techniques. </a:t>
            </a:r>
          </a:p>
          <a:p>
            <a:r>
              <a:rPr lang="en-US" dirty="0"/>
              <a:t> The aim is to build a model that can classify real vs fake accounts with high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Social media platforms like Facebook, Twitter, Instagram, and YouTube are widely used. </a:t>
            </a:r>
          </a:p>
          <a:p>
            <a:r>
              <a:rPr lang="en-US" dirty="0"/>
              <a:t>Fake accounts spread misinformation, fake news, and spam. </a:t>
            </a:r>
          </a:p>
          <a:p>
            <a:r>
              <a:rPr lang="en-US" dirty="0"/>
              <a:t>These affect society negatively. Detecting fake accounts is important to ensure security, trust, and prevention of misinformation.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Literature Survey – Limitations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F23B7AF-A945-C17C-80F9-E9780FB90D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6218078"/>
              </p:ext>
            </p:extLst>
          </p:nvPr>
        </p:nvGraphicFramePr>
        <p:xfrm>
          <a:off x="304800" y="1524001"/>
          <a:ext cx="8381999" cy="502265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56532653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678516203"/>
                    </a:ext>
                  </a:extLst>
                </a:gridCol>
                <a:gridCol w="1940697">
                  <a:extLst>
                    <a:ext uri="{9D8B030D-6E8A-4147-A177-3AD203B41FA5}">
                      <a16:colId xmlns:a16="http://schemas.microsoft.com/office/drawing/2014/main" val="3633581788"/>
                    </a:ext>
                  </a:extLst>
                </a:gridCol>
                <a:gridCol w="1887838">
                  <a:extLst>
                    <a:ext uri="{9D8B030D-6E8A-4147-A177-3AD203B41FA5}">
                      <a16:colId xmlns:a16="http://schemas.microsoft.com/office/drawing/2014/main" val="2751292517"/>
                    </a:ext>
                  </a:extLst>
                </a:gridCol>
                <a:gridCol w="2038864">
                  <a:extLst>
                    <a:ext uri="{9D8B030D-6E8A-4147-A177-3AD203B41FA5}">
                      <a16:colId xmlns:a16="http://schemas.microsoft.com/office/drawing/2014/main" val="931474389"/>
                    </a:ext>
                  </a:extLst>
                </a:gridCol>
              </a:tblGrid>
              <a:tr h="41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Sl. No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Title of Paper</a:t>
                      </a:r>
                      <a:endParaRPr lang="en-IN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Algorithm(s) Used</a:t>
                      </a:r>
                      <a:endParaRPr lang="en-IN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Parameters Considered</a:t>
                      </a:r>
                      <a:endParaRPr lang="en-IN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Efficiency / Limitation</a:t>
                      </a:r>
                      <a:endParaRPr lang="en-IN" sz="1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387834"/>
                  </a:ext>
                </a:extLst>
              </a:tr>
              <a:tr h="8257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Fake News Detection on Social Media: A Data Mining Perspective (Shu et al., 2017)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Data Mining + Content/User </a:t>
                      </a:r>
                      <a:r>
                        <a:rPr lang="en-IN" sz="12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Behavior</a:t>
                      </a:r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Models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Content features, user behavior, social context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Good accuracy for fake news; not suitable for fake account detection.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253593"/>
                  </a:ext>
                </a:extLst>
              </a:tr>
              <a:tr h="877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Early Detection of Fake News (Liu &amp; Wu, 2018)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RNN + CNN (Deep Learning)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Propagation paths, user interactions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High accuracy in early detection; computationally expensive, not account-specific.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771364"/>
                  </a:ext>
                </a:extLst>
              </a:tr>
              <a:tr h="708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Towards Automatic Fake News Classification (Ghosh &amp; Shah, 2018)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Deep Learning + NLP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Textual features, claim verification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Strong for text classification; ignores profile/behavioral features.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583198"/>
                  </a:ext>
                </a:extLst>
              </a:tr>
              <a:tr h="976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COVID-19 Fake News Classification on Twitter (Qureshi et al., 2021)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Complex Network + User Profile Features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Network links, profile metadata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Effective for pandemic-related misinformation; dataset-specific, limited generalization.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803226"/>
                  </a:ext>
                </a:extLst>
              </a:tr>
              <a:tr h="1221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Fake Social Media Accounts Detection using ML (Bhargavi et al., 2025 – Base Paper)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Decision Tree, Random Forest, SVM + NLP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Profile features (followers, bio), behavioral features (posting rate), textual features (spam, sentiment)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Achieved ~97% accuracy; still faces scalability, evolving bots, and privacy challenges.</a:t>
                      </a:r>
                    </a:p>
                  </a:txBody>
                  <a:tcPr marL="33253" marR="33253" marT="16627" marB="166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9349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Existing System –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2286000"/>
            <a:ext cx="8229600" cy="4389120"/>
          </a:xfrm>
        </p:spPr>
        <p:txBody>
          <a:bodyPr/>
          <a:lstStyle/>
          <a:p>
            <a:r>
              <a:rPr lang="en-US" dirty="0"/>
              <a:t>Existing fake account detection techniques rely on simple heuristics </a:t>
            </a:r>
          </a:p>
          <a:p>
            <a:r>
              <a:rPr lang="en-US" dirty="0"/>
              <a:t> such as account activity or follower counts. These are insufficient against advanced bots. </a:t>
            </a:r>
          </a:p>
          <a:p>
            <a:r>
              <a:rPr lang="en-US" dirty="0"/>
              <a:t>Problem Statement: To design a reliable machine learning-based solution for detecting fake accounts across platforms.	</a:t>
            </a:r>
          </a:p>
        </p:txBody>
      </p:sp>
    </p:spTree>
    <p:extLst>
      <p:ext uri="{BB962C8B-B14F-4D97-AF65-F5344CB8AC3E}">
        <p14:creationId xmlns:p14="http://schemas.microsoft.com/office/powerpoint/2010/main" val="88798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To detect fake accounts on social media platforms using ML. </a:t>
            </a:r>
          </a:p>
          <a:p>
            <a:r>
              <a:rPr lang="en-US" dirty="0"/>
              <a:t>2. To improve accuracy by combining classification models (Decision Tree, Random Forest, SVM). </a:t>
            </a:r>
          </a:p>
          <a:p>
            <a:r>
              <a:rPr lang="en-US" dirty="0"/>
              <a:t>3. To ensure real-time detection and minimize false 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Proposed 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008120"/>
          </a:xfrm>
        </p:spPr>
        <p:txBody>
          <a:bodyPr/>
          <a:lstStyle/>
          <a:p>
            <a:r>
              <a:rPr lang="en-US" dirty="0"/>
              <a:t>The system collects social media data (followers, following, posts, comments, bio, account age). </a:t>
            </a:r>
          </a:p>
          <a:p>
            <a:r>
              <a:rPr lang="en-US" dirty="0"/>
              <a:t>Data preprocessing removes irrelevant/noisy features. </a:t>
            </a:r>
          </a:p>
          <a:p>
            <a:r>
              <a:rPr lang="en-US" dirty="0"/>
              <a:t>Machine learning algorithms (Decision Tree, Random Forest, SVM) are trained on labeled datasets </a:t>
            </a:r>
          </a:p>
          <a:p>
            <a:r>
              <a:rPr lang="en-US" dirty="0"/>
              <a:t>To classify accounts as real or fake. </a:t>
            </a:r>
          </a:p>
          <a:p>
            <a:r>
              <a:rPr lang="en-US" dirty="0"/>
              <a:t>NLP techniques are used to analyze user-generated content for patterns of spam/automation.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Proposed 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Decision Tree Classifier: For structured feature-based classification. </a:t>
            </a:r>
          </a:p>
          <a:p>
            <a:r>
              <a:rPr lang="en-IN" dirty="0"/>
              <a:t> Random Forest: For improving classification accuracy via ensemble learning. </a:t>
            </a:r>
          </a:p>
          <a:p>
            <a:r>
              <a:rPr lang="en-IN" dirty="0"/>
              <a:t> SVM: For separating data with maximum margin. </a:t>
            </a:r>
          </a:p>
          <a:p>
            <a:r>
              <a:rPr lang="en-IN" dirty="0"/>
              <a:t> NLP (sentiment/spam detection): For </a:t>
            </a:r>
            <a:r>
              <a:rPr lang="en-IN" dirty="0" err="1"/>
              <a:t>analyzing</a:t>
            </a:r>
            <a:r>
              <a:rPr lang="en-IN" dirty="0"/>
              <a:t> user text content.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69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System – Functional architectural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2D8F4-0094-45AB-84ED-4F6BE4D93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072230"/>
            <a:ext cx="6172200" cy="44932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" y="8382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IE" sz="5600" dirty="0"/>
            </a:br>
            <a:br>
              <a:rPr lang="en-US" b="1" dirty="0"/>
            </a:br>
            <a:r>
              <a:rPr lang="en-IE" sz="5400" dirty="0"/>
              <a:t> </a:t>
            </a:r>
            <a:r>
              <a:rPr lang="en-IE" sz="4000" dirty="0"/>
              <a:t>Project Specification(Hardware/Software)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389120"/>
          </a:xfrm>
        </p:spPr>
        <p:txBody>
          <a:bodyPr/>
          <a:lstStyle/>
          <a:p>
            <a:r>
              <a:rPr lang="en-IN" dirty="0"/>
              <a:t>Hardware:</a:t>
            </a:r>
          </a:p>
          <a:p>
            <a:r>
              <a:rPr lang="en-IN" dirty="0"/>
              <a:t>• 8GB RAM, i5 Processor</a:t>
            </a:r>
          </a:p>
          <a:p>
            <a:r>
              <a:rPr lang="en-IN" dirty="0"/>
              <a:t>Software:</a:t>
            </a:r>
          </a:p>
          <a:p>
            <a:r>
              <a:rPr lang="en-IN" dirty="0"/>
              <a:t>• Python 3.10, scikit-learn, pandas, NumPy</a:t>
            </a:r>
          </a:p>
          <a:p>
            <a:r>
              <a:rPr lang="en-IN" dirty="0"/>
              <a:t>Dataset:</a:t>
            </a:r>
          </a:p>
          <a:p>
            <a:r>
              <a:rPr lang="en-IN" dirty="0"/>
              <a:t>• Social media datasets (Twitter, Instagram, Facebook).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 machine learning model capable of detecting fake accounts with accuracy &gt;95%. </a:t>
            </a:r>
          </a:p>
          <a:p>
            <a:r>
              <a:rPr lang="en-US" dirty="0"/>
              <a:t>2. Performance metrics (precision, recall, F1-score) for Decision Tree and Random Forest. </a:t>
            </a:r>
          </a:p>
          <a:p>
            <a:r>
              <a:rPr lang="en-US" dirty="0"/>
              <a:t>3. A web-based tool for real-time detection of fake accounts. </a:t>
            </a:r>
          </a:p>
          <a:p>
            <a:r>
              <a:rPr lang="en-US" dirty="0"/>
              <a:t>4. Contribution to cybersecurity in social media.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932688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[1] Shu et al., Fake News Detection on Social Media: A Data Mining Perspective, 2017. </a:t>
            </a:r>
          </a:p>
          <a:p>
            <a:r>
              <a:rPr lang="en-IN" dirty="0"/>
              <a:t>[2] Qureshi et al., COVID-19 Fake News Classification on Twitter, IEEE Access, 2021. </a:t>
            </a:r>
          </a:p>
          <a:p>
            <a:r>
              <a:rPr lang="en-IN" dirty="0"/>
              <a:t>[3] Ghosh &amp; Shah, Towards Automatic Fake News Classification, 2018. </a:t>
            </a:r>
          </a:p>
          <a:p>
            <a:r>
              <a:rPr lang="en-IN" dirty="0"/>
              <a:t>[4] Liu &amp; Wu, Early Detection of Fake News, AAAI, 2018. </a:t>
            </a:r>
          </a:p>
          <a:p>
            <a:r>
              <a:rPr lang="en-IN" dirty="0"/>
              <a:t>[5] </a:t>
            </a:r>
            <a:r>
              <a:rPr lang="en-IN" dirty="0" err="1"/>
              <a:t>K.Bhargavi</a:t>
            </a:r>
            <a:r>
              <a:rPr lang="en-IN" dirty="0"/>
              <a:t> et al., Fake Social Media Accounts Detection using Machine Learning, IEEE ICPCSN 2025.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38912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n-US" sz="7200" dirty="0">
              <a:solidFill>
                <a:schemeClr val="tx2"/>
              </a:solidFill>
              <a:latin typeface="Arial Rounded MT Bold" pitchFamily="34" charset="0"/>
              <a:ea typeface="SimSun-ExtB" pitchFamily="49" charset="-122"/>
              <a:cs typeface="+mj-cs"/>
            </a:endParaRPr>
          </a:p>
          <a:p>
            <a:pPr algn="ctr">
              <a:buNone/>
            </a:pPr>
            <a:r>
              <a:rPr lang="en-US" sz="7200" dirty="0">
                <a:solidFill>
                  <a:schemeClr val="tx2"/>
                </a:solidFill>
                <a:latin typeface="Arial Rounded MT Bold" pitchFamily="34" charset="0"/>
                <a:ea typeface="SimSun-ExtB" pitchFamily="49" charset="-122"/>
                <a:cs typeface="+mj-cs"/>
              </a:rPr>
              <a:t>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320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latin typeface="Arial Rounded MT Bold" pitchFamily="34" charset="0"/>
                <a:ea typeface="SimSun-ExtB" pitchFamily="49" charset="-122"/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330</TotalTime>
  <Words>884</Words>
  <Application>Microsoft Office PowerPoint</Application>
  <PresentationFormat>On-screen Show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 Rounded MT Bold</vt:lpstr>
      <vt:lpstr>Calibri</vt:lpstr>
      <vt:lpstr>Constantia</vt:lpstr>
      <vt:lpstr>Wingdings 2</vt:lpstr>
      <vt:lpstr>Flow</vt:lpstr>
      <vt:lpstr>              HKBK College of Engineering Department of Computer Science and Engineering PROJECT TITLE: Fake Social Media Account Detection using Machine Learning </vt:lpstr>
      <vt:lpstr>Abstract</vt:lpstr>
      <vt:lpstr>Introduction</vt:lpstr>
      <vt:lpstr>Literature Survey – Limitations </vt:lpstr>
      <vt:lpstr>Existing System – Problem Statement</vt:lpstr>
      <vt:lpstr>Objectives</vt:lpstr>
      <vt:lpstr>Proposed System </vt:lpstr>
      <vt:lpstr> Proposed Algorithm Used</vt:lpstr>
      <vt:lpstr>Proposed System – Functional architectural Diagram</vt:lpstr>
      <vt:lpstr>              Project Specification(Hardware/Software)</vt:lpstr>
      <vt:lpstr>Expected Outcomes</vt:lpstr>
      <vt:lpstr>REFERENCES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for Project Presentation</dc:title>
  <dc:creator>Raj</dc:creator>
  <cp:lastModifiedBy>Kk Kk</cp:lastModifiedBy>
  <cp:revision>28</cp:revision>
  <dcterms:created xsi:type="dcterms:W3CDTF">2021-10-21T09:13:20Z</dcterms:created>
  <dcterms:modified xsi:type="dcterms:W3CDTF">2025-09-18T04:46:47Z</dcterms:modified>
</cp:coreProperties>
</file>